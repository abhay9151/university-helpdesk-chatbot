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embeddedFontLst>
    <p:embeddedFont>
      <p:font typeface="DM Sans" pitchFamily="34" charset="0"/>
      <p:regular r:id="rId14"/>
      <p:bold r:id="rId1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font" Target="fonts/font1.fntdata"/><Relationship Id="rId15"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case: a European investment bank moved from fully manual regression testing to automated testing in its CI/CD pipeline. The case comes from a shift-left testing guide published by Total Shift Left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Shift-left means testing earlier on the project timeline. Traditional testing sits at the far right, after coding. Shift-left embeds quality checks from requirements onward. The source cites Boehm and Basili (2001): defects found after delivery can cost about 100 times more than those caught early, on large projects.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Regression testing means re-checking that existing features still work after a change. At this bank it was done entirely by hand and took more than 2,000 hours per release cycle, which held back updates to the trading applications.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consulting firm designed a Selenium and C# automation framework and connected it to the bank’s CI/CD pipeline. Tests ran on every build, and quality gates stopped any deployment where a test failed. This is the continuous, DevOps form of shift-left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headline results: regression testing time fell by 80%, the bank saved more than $700,000 a year, and no critical production defects were reported after implementation. These are reported results from the consultancy that did the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case with care. The results are plausible and consistent with wider shift-left literature, but they are reported by the consultancy that did the work, key details are missing, and the bank is not named.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lesson: shift-left is a change in how and when quality is checked, not just a tool purchase. Tests run early, run automatically, and block bad code from progressing.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14213D"/>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88690"/>
            <a:ext cx="10566400" cy="502890"/>
          </a:xfrm>
          <a:prstGeom prst="rect">
            <a:avLst/>
          </a:prstGeom>
          <a:noFill/>
          <a:ln/>
        </p:spPr>
        <p:txBody>
          <a:bodyPr wrap="square" lIns="0" tIns="0" rIns="0" bIns="0" rtlCol="0" anchor="t"/>
          <a:lstStyle>
            <a:lvl1pPr algn="l" indent="0" marL="0">
              <a:lnSpc>
                <a:spcPct val="115000"/>
              </a:lnSpc>
              <a:buNone/>
              <a:defRPr lang="en-US" sz="3600" dirty="0">
                <a:solidFill>
                  <a:srgbClr val="F7F5EF"/>
                </a:solidFill>
                <a:latin typeface="DM Sans" pitchFamily="34" charset="0"/>
                <a:ea typeface="DM Sans" pitchFamily="34" charset="-122"/>
                <a:cs typeface="DM San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96380"/>
            <a:ext cx="10566400" cy="4048820"/>
          </a:xfrm>
          <a:prstGeom prst="rect">
            <a:avLst/>
          </a:prstGeom>
          <a:noFill/>
          <a:ln/>
        </p:spPr>
        <p:txBody>
          <a:bodyPr wrap="square" lIns="0" tIns="0" rIns="0" bIns="0" rtlCol="0" anchor="t"/>
          <a:lstStyle>
            <a:lvl1pPr algn="l" indent="0" marL="0">
              <a:lnSpc>
                <a:spcPct val="140000"/>
              </a:lnSpc>
              <a:buNone/>
              <a:defRPr lang="en-US" sz="1600" dirty="0">
                <a:solidFill>
                  <a:srgbClr val="F7F5EF"/>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4213D"/>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88690"/>
            <a:ext cx="10566400" cy="502890"/>
          </a:xfrm>
          <a:prstGeom prst="rect">
            <a:avLst/>
          </a:prstGeom>
          <a:noFill/>
          <a:ln/>
        </p:spPr>
        <p:txBody>
          <a:bodyPr wrap="square" lIns="0" tIns="0" rIns="0" bIns="0" rtlCol="0" anchor="t"/>
          <a:lstStyle>
            <a:lvl1pPr algn="l" indent="0" marL="0">
              <a:lnSpc>
                <a:spcPct val="115000"/>
              </a:lnSpc>
              <a:buNone/>
              <a:defRPr lang="en-US" sz="3600" dirty="0">
                <a:solidFill>
                  <a:srgbClr val="F7F5EF"/>
                </a:solidFill>
                <a:latin typeface="DM Sans" pitchFamily="34" charset="0"/>
                <a:ea typeface="DM Sans" pitchFamily="34" charset="-122"/>
                <a:cs typeface="DM San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96380"/>
            <a:ext cx="10566400" cy="4048820"/>
          </a:xfrm>
          <a:prstGeom prst="rect">
            <a:avLst/>
          </a:prstGeom>
          <a:noFill/>
          <a:ln/>
        </p:spPr>
        <p:txBody>
          <a:bodyPr wrap="square" lIns="0" tIns="0" rIns="0" bIns="0" rtlCol="0" anchor="t"/>
          <a:lstStyle>
            <a:lvl1pPr algn="l" indent="0" marL="0">
              <a:lnSpc>
                <a:spcPct val="140000"/>
              </a:lnSpc>
              <a:buNone/>
              <a:defRPr lang="en-US" sz="1600" dirty="0">
                <a:solidFill>
                  <a:srgbClr val="F7F5EF"/>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750" y="4590207"/>
            <a:ext cx="1088339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FC8DA"/>
                </a:solidFill>
                <a:latin typeface="DM Sans" pitchFamily="34" charset="0"/>
                <a:ea typeface="DM Sans" pitchFamily="34" charset="-122"/>
                <a:cs typeface="DM Sans" pitchFamily="34" charset="-120"/>
              </a:rPr>
              <a:t>Abhay Pratap Singh (202401100100006) · Aman Gupta (202401100100035)</a:t>
            </a:r>
            <a:endParaRPr lang="en-US" sz="1400" dirty="0"/>
          </a:p>
          <a:p>
            <a:pPr algn="l" indent="0" marL="0">
              <a:lnSpc>
                <a:spcPts val="1960"/>
              </a:lnSpc>
              <a:buNone/>
            </a:pPr>
            <a:r>
              <a:rPr lang="en-US" sz="1400" dirty="0">
                <a:solidFill>
                  <a:srgbClr val="BFC8DA"/>
                </a:solidFill>
                <a:latin typeface="DM Sans" pitchFamily="34" charset="0"/>
                <a:ea typeface="DM Sans" pitchFamily="34" charset="-122"/>
                <a:cs typeface="DM Sans" pitchFamily="34" charset="-120"/>
              </a:rPr>
              <a:t>Amar Dwivedi (202401100100036) · Abhishek Goswami (202401100100011)</a:t>
            </a:r>
            <a:endParaRPr lang="en-US" sz="1400" dirty="0"/>
          </a:p>
        </p:txBody>
      </p:sp>
      <p:sp>
        <p:nvSpPr>
          <p:cNvPr id="3" name="Text 1"/>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E8A33D"/>
                </a:solidFill>
                <a:latin typeface="DM Sans" pitchFamily="34" charset="0"/>
                <a:ea typeface="DM Sans" pitchFamily="34" charset="-122"/>
                <a:cs typeface="DM Sans" pitchFamily="34" charset="-120"/>
              </a:rPr>
              <a:t>SOFTWARE ENGINEERING · CASE STUDY</a:t>
            </a:r>
            <a:endParaRPr lang="en-US" sz="1400" dirty="0"/>
          </a:p>
        </p:txBody>
      </p:sp>
      <p:sp>
        <p:nvSpPr>
          <p:cNvPr id="4" name="Text 2"/>
          <p:cNvSpPr/>
          <p:nvPr>
            <p:ph type="title"/>
          </p:nvPr>
        </p:nvSpPr>
        <p:spPr>
          <a:xfrm>
            <a:off x="638324" y="1694259"/>
            <a:ext cx="9990409" cy="1412180"/>
          </a:xfrm>
          <a:prstGeom prst="rect">
            <a:avLst/>
          </a:prstGeom>
          <a:noFill/>
          <a:ln/>
        </p:spPr>
        <p:txBody>
          <a:bodyPr wrap="square" lIns="0" tIns="0" rIns="0" bIns="0" rtlCol="0" anchor="t">
            <a:normAutofit/>
          </a:bodyPr>
          <a:lstStyle/>
          <a:p>
            <a:pPr algn="l" indent="0" marL="0">
              <a:lnSpc>
                <a:spcPts val="5460"/>
              </a:lnSpc>
              <a:buNone/>
            </a:pPr>
            <a:r>
              <a:rPr lang="en-US" sz="5200" b="1" i="0" dirty="0">
                <a:solidFill>
                  <a:srgbClr val="F7F5EF"/>
                </a:solidFill>
                <a:latin typeface="DM Sans" pitchFamily="34" charset="0"/>
                <a:ea typeface="DM Sans" pitchFamily="34" charset="-122"/>
                <a:cs typeface="DM Sans" pitchFamily="34" charset="-120"/>
              </a:rPr>
              <a:t>Shift-Left Testing at a European Investment Bank</a:t>
            </a:r>
            <a:endParaRPr lang="en-US" sz="5200" dirty="0"/>
          </a:p>
        </p:txBody>
      </p:sp>
      <p:sp>
        <p:nvSpPr>
          <p:cNvPr id="5" name="Text 3"/>
          <p:cNvSpPr/>
          <p:nvPr/>
        </p:nvSpPr>
        <p:spPr>
          <a:xfrm>
            <a:off x="812750" y="3464868"/>
            <a:ext cx="8502650"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BFC8DA"/>
                </a:solidFill>
                <a:latin typeface="DM Sans" pitchFamily="34" charset="0"/>
                <a:ea typeface="DM Sans" pitchFamily="34" charset="-122"/>
                <a:cs typeface="DM Sans" pitchFamily="34" charset="-120"/>
              </a:rPr>
              <a:t>How automating regression testing inside CI/CD cut testing time by 80%</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A35F00"/>
                </a:solidFill>
                <a:latin typeface="DM Sans" pitchFamily="34" charset="0"/>
                <a:ea typeface="DM Sans" pitchFamily="34" charset="-122"/>
                <a:cs typeface="DM Sans" pitchFamily="34" charset="-120"/>
              </a:rPr>
              <a:t>BACKGROUND</a:t>
            </a:r>
            <a:endParaRPr lang="en-US" sz="1400" dirty="0"/>
          </a:p>
        </p:txBody>
      </p:sp>
      <p:sp>
        <p:nvSpPr>
          <p:cNvPr id="3" name="Text 1"/>
          <p:cNvSpPr/>
          <p:nvPr>
            <p:ph type="title"/>
          </p:nvPr>
        </p:nvSpPr>
        <p:spPr>
          <a:xfrm>
            <a:off x="812800" y="118869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DM Sans" pitchFamily="34" charset="0"/>
                <a:ea typeface="DM Sans" pitchFamily="34" charset="-122"/>
                <a:cs typeface="DM Sans" pitchFamily="34" charset="-120"/>
              </a:rPr>
              <a:t>What is shift-left testing?</a:t>
            </a:r>
            <a:endParaRPr lang="en-US" sz="3600" dirty="0"/>
          </a:p>
        </p:txBody>
      </p:sp>
      <p:sp>
        <p:nvSpPr>
          <p:cNvPr id="4" name="Text 2"/>
          <p:cNvSpPr/>
          <p:nvPr/>
        </p:nvSpPr>
        <p:spPr>
          <a:xfrm>
            <a:off x="812800" y="1818580"/>
            <a:ext cx="9156700" cy="66546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4A5568"/>
                </a:solidFill>
                <a:latin typeface="DM Sans" pitchFamily="34" charset="0"/>
                <a:ea typeface="DM Sans" pitchFamily="34" charset="-122"/>
                <a:cs typeface="DM Sans" pitchFamily="34" charset="-120"/>
              </a:rPr>
              <a:t>Move testing, security and quality checks to the earliest stages of the software lifecycle instead of leaving them until the end.</a:t>
            </a:r>
            <a:endParaRPr lang="en-US" sz="1800" dirty="0"/>
          </a:p>
        </p:txBody>
      </p:sp>
      <p:sp>
        <p:nvSpPr>
          <p:cNvPr id="5" name="Text 3"/>
          <p:cNvSpPr/>
          <p:nvPr/>
        </p:nvSpPr>
        <p:spPr>
          <a:xfrm>
            <a:off x="812800" y="4699050"/>
            <a:ext cx="1991320" cy="741660"/>
          </a:xfrm>
          <a:prstGeom prst="roundRect">
            <a:avLst>
              <a:gd name="adj" fmla="val 13699"/>
            </a:avLst>
          </a:prstGeom>
          <a:solidFill>
            <a:srgbClr val="E8A33D"/>
          </a:solidFill>
          <a:ln/>
        </p:spPr>
        <p:txBody>
          <a:bodyPr wrap="square" lIns="97242" tIns="198842" rIns="97242" bIns="173442" rtlCol="0" anchor="t">
            <a:normAutofit/>
          </a:bodyPr>
          <a:lstStyle/>
          <a:p>
            <a:pPr algn="ctr" indent="0" marL="0">
              <a:lnSpc>
                <a:spcPts val="2240"/>
              </a:lnSpc>
              <a:buNone/>
            </a:pPr>
            <a:r>
              <a:rPr lang="en-US" sz="1600" b="1" dirty="0">
                <a:solidFill>
                  <a:srgbClr val="14213D"/>
                </a:solidFill>
                <a:latin typeface="DM Sans" pitchFamily="34" charset="0"/>
                <a:ea typeface="DM Sans" pitchFamily="34" charset="-122"/>
                <a:cs typeface="DM Sans" pitchFamily="34" charset="-120"/>
              </a:rPr>
              <a:t>Requirements</a:t>
            </a:r>
            <a:endParaRPr lang="en-US" sz="1600" dirty="0"/>
          </a:p>
        </p:txBody>
      </p:sp>
      <p:sp>
        <p:nvSpPr>
          <p:cNvPr id="6" name="Text 4"/>
          <p:cNvSpPr/>
          <p:nvPr/>
        </p:nvSpPr>
        <p:spPr>
          <a:xfrm>
            <a:off x="2956520" y="4699050"/>
            <a:ext cx="1991370" cy="741660"/>
          </a:xfrm>
          <a:prstGeom prst="roundRect">
            <a:avLst>
              <a:gd name="adj" fmla="val 13699"/>
            </a:avLst>
          </a:prstGeom>
          <a:solidFill>
            <a:srgbClr val="E8A33D"/>
          </a:solidFill>
          <a:ln/>
        </p:spPr>
        <p:txBody>
          <a:bodyPr wrap="square" lIns="97242" tIns="198842" rIns="97242" bIns="173442" rtlCol="0" anchor="t">
            <a:normAutofit/>
          </a:bodyPr>
          <a:lstStyle/>
          <a:p>
            <a:pPr algn="ctr" indent="0" marL="0">
              <a:lnSpc>
                <a:spcPts val="2240"/>
              </a:lnSpc>
              <a:buNone/>
            </a:pPr>
            <a:r>
              <a:rPr lang="en-US" sz="1600" b="1" dirty="0">
                <a:solidFill>
                  <a:srgbClr val="14213D"/>
                </a:solidFill>
                <a:latin typeface="DM Sans" pitchFamily="34" charset="0"/>
                <a:ea typeface="DM Sans" pitchFamily="34" charset="-122"/>
                <a:cs typeface="DM Sans" pitchFamily="34" charset="-120"/>
              </a:rPr>
              <a:t>Design</a:t>
            </a:r>
            <a:endParaRPr lang="en-US" sz="1600" dirty="0"/>
          </a:p>
        </p:txBody>
      </p:sp>
      <p:sp>
        <p:nvSpPr>
          <p:cNvPr id="7" name="Text 5"/>
          <p:cNvSpPr/>
          <p:nvPr/>
        </p:nvSpPr>
        <p:spPr>
          <a:xfrm>
            <a:off x="5100290" y="4699050"/>
            <a:ext cx="1991370" cy="741660"/>
          </a:xfrm>
          <a:prstGeom prst="roundRect">
            <a:avLst>
              <a:gd name="adj" fmla="val 13699"/>
            </a:avLst>
          </a:prstGeom>
          <a:solidFill>
            <a:srgbClr val="14213D"/>
          </a:solidFill>
          <a:ln/>
        </p:spPr>
        <p:txBody>
          <a:bodyPr wrap="square" lIns="97242" tIns="198842" rIns="97242" bIns="173442" rtlCol="0" anchor="t">
            <a:normAutofit/>
          </a:bodyPr>
          <a:lstStyle/>
          <a:p>
            <a:pPr algn="ctr" indent="0" marL="0">
              <a:lnSpc>
                <a:spcPts val="2240"/>
              </a:lnSpc>
              <a:buNone/>
            </a:pPr>
            <a:r>
              <a:rPr lang="en-US" sz="1600" b="1" dirty="0">
                <a:solidFill>
                  <a:srgbClr val="F7F5EF"/>
                </a:solidFill>
                <a:latin typeface="DM Sans" pitchFamily="34" charset="0"/>
                <a:ea typeface="DM Sans" pitchFamily="34" charset="-122"/>
                <a:cs typeface="DM Sans" pitchFamily="34" charset="-120"/>
              </a:rPr>
              <a:t>Coding</a:t>
            </a:r>
            <a:endParaRPr lang="en-US" sz="1600" dirty="0"/>
          </a:p>
        </p:txBody>
      </p:sp>
      <p:sp>
        <p:nvSpPr>
          <p:cNvPr id="8" name="Text 6"/>
          <p:cNvSpPr/>
          <p:nvPr/>
        </p:nvSpPr>
        <p:spPr>
          <a:xfrm>
            <a:off x="7244060" y="4699050"/>
            <a:ext cx="1991370" cy="741660"/>
          </a:xfrm>
          <a:prstGeom prst="roundRect">
            <a:avLst>
              <a:gd name="adj" fmla="val 13699"/>
            </a:avLst>
          </a:prstGeom>
          <a:solidFill>
            <a:srgbClr val="14213D"/>
          </a:solidFill>
          <a:ln/>
        </p:spPr>
        <p:txBody>
          <a:bodyPr wrap="square" lIns="97242" tIns="198842" rIns="97242" bIns="173442" rtlCol="0" anchor="t">
            <a:normAutofit/>
          </a:bodyPr>
          <a:lstStyle/>
          <a:p>
            <a:pPr algn="ctr" indent="0" marL="0">
              <a:lnSpc>
                <a:spcPts val="2240"/>
              </a:lnSpc>
              <a:buNone/>
            </a:pPr>
            <a:r>
              <a:rPr lang="en-US" sz="1600" b="1" dirty="0">
                <a:solidFill>
                  <a:srgbClr val="F7F5EF"/>
                </a:solidFill>
                <a:latin typeface="DM Sans" pitchFamily="34" charset="0"/>
                <a:ea typeface="DM Sans" pitchFamily="34" charset="-122"/>
                <a:cs typeface="DM Sans" pitchFamily="34" charset="-120"/>
              </a:rPr>
              <a:t>Integration</a:t>
            </a:r>
            <a:endParaRPr lang="en-US" sz="1600" dirty="0"/>
          </a:p>
        </p:txBody>
      </p:sp>
      <p:sp>
        <p:nvSpPr>
          <p:cNvPr id="9" name="Text 7"/>
          <p:cNvSpPr/>
          <p:nvPr/>
        </p:nvSpPr>
        <p:spPr>
          <a:xfrm>
            <a:off x="9387830" y="4699050"/>
            <a:ext cx="1991370" cy="741660"/>
          </a:xfrm>
          <a:prstGeom prst="roundRect">
            <a:avLst>
              <a:gd name="adj" fmla="val 13699"/>
            </a:avLst>
          </a:prstGeom>
          <a:solidFill>
            <a:srgbClr val="14213D"/>
          </a:solidFill>
          <a:ln/>
        </p:spPr>
        <p:txBody>
          <a:bodyPr wrap="square" lIns="97242" tIns="198842" rIns="97242" bIns="173442" rtlCol="0" anchor="t">
            <a:normAutofit/>
          </a:bodyPr>
          <a:lstStyle/>
          <a:p>
            <a:pPr algn="ctr" indent="0" marL="0">
              <a:lnSpc>
                <a:spcPts val="2240"/>
              </a:lnSpc>
              <a:buNone/>
            </a:pPr>
            <a:r>
              <a:rPr lang="en-US" sz="1600" b="1" dirty="0">
                <a:solidFill>
                  <a:srgbClr val="F7F5EF"/>
                </a:solidFill>
                <a:latin typeface="DM Sans" pitchFamily="34" charset="0"/>
                <a:ea typeface="DM Sans" pitchFamily="34" charset="-122"/>
                <a:cs typeface="DM Sans" pitchFamily="34" charset="-120"/>
              </a:rPr>
              <a:t>Deployment</a:t>
            </a:r>
            <a:endParaRPr lang="en-US" sz="1600" dirty="0"/>
          </a:p>
        </p:txBody>
      </p:sp>
      <p:sp>
        <p:nvSpPr>
          <p:cNvPr id="10" name="Text 8"/>
          <p:cNvSpPr/>
          <p:nvPr/>
        </p:nvSpPr>
        <p:spPr>
          <a:xfrm>
            <a:off x="812800" y="5593110"/>
            <a:ext cx="497078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DM Sans" pitchFamily="34" charset="0"/>
                <a:ea typeface="DM Sans" pitchFamily="34" charset="-122"/>
                <a:cs typeface="DM Sans" pitchFamily="34" charset="-120"/>
              </a:rPr>
              <a:t>Left: shift-left testing starts here</a:t>
            </a:r>
            <a:endParaRPr lang="en-US" sz="1400" dirty="0"/>
          </a:p>
        </p:txBody>
      </p:sp>
      <p:sp>
        <p:nvSpPr>
          <p:cNvPr id="11" name="Text 9"/>
          <p:cNvSpPr/>
          <p:nvPr/>
        </p:nvSpPr>
        <p:spPr>
          <a:xfrm>
            <a:off x="6408420" y="5593110"/>
            <a:ext cx="4970780" cy="274290"/>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4A5568"/>
                </a:solidFill>
                <a:latin typeface="DM Sans" pitchFamily="34" charset="0"/>
                <a:ea typeface="DM Sans" pitchFamily="34" charset="-122"/>
                <a:cs typeface="DM Sans" pitchFamily="34" charset="-120"/>
              </a:rPr>
              <a:t>Right: traditional testing happens here</a:t>
            </a:r>
            <a:endParaRPr lang="en-US" sz="1400" dirty="0"/>
          </a:p>
        </p:txBody>
      </p:sp>
      <p:sp>
        <p:nvSpPr>
          <p:cNvPr id="12" name="Text 10"/>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DM Sans" pitchFamily="34" charset="0"/>
                <a:ea typeface="DM Sans" pitchFamily="34" charset="-122"/>
                <a:cs typeface="DM Sans" pitchFamily="34" charset="-120"/>
              </a:rPr>
              <a:t>Source: Total Shift Left (2026)</a:t>
            </a:r>
            <a:endParaRPr lang="en-US" sz="1200" dirty="0"/>
          </a:p>
        </p:txBody>
      </p:sp>
      <p:sp>
        <p:nvSpPr>
          <p:cNvPr id="13" name="Text 1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568"/>
                </a:solidFill>
                <a:latin typeface="DM Sans" pitchFamily="34" charset="0"/>
                <a:ea typeface="DM Sans" pitchFamily="34" charset="-122"/>
                <a:cs typeface="DM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E8A33D"/>
                </a:solidFill>
                <a:latin typeface="DM Sans" pitchFamily="34" charset="0"/>
                <a:ea typeface="DM Sans" pitchFamily="34" charset="-122"/>
                <a:cs typeface="DM Sans" pitchFamily="34" charset="-120"/>
              </a:rPr>
              <a:t>THE PROBLEM</a:t>
            </a:r>
            <a:endParaRPr lang="en-US" sz="1400" dirty="0"/>
          </a:p>
        </p:txBody>
      </p:sp>
      <p:sp>
        <p:nvSpPr>
          <p:cNvPr id="3" name="Text 1"/>
          <p:cNvSpPr/>
          <p:nvPr>
            <p:ph type="title"/>
          </p:nvPr>
        </p:nvSpPr>
        <p:spPr>
          <a:xfrm>
            <a:off x="812800" y="118869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7F5EF"/>
                </a:solidFill>
                <a:latin typeface="DM Sans" pitchFamily="34" charset="0"/>
                <a:ea typeface="DM Sans" pitchFamily="34" charset="-122"/>
                <a:cs typeface="DM Sans" pitchFamily="34" charset="-120"/>
              </a:rPr>
              <a:t>Manual regression testing blocked releases</a:t>
            </a:r>
            <a:endParaRPr lang="en-US" sz="3600" dirty="0"/>
          </a:p>
        </p:txBody>
      </p:sp>
      <p:sp>
        <p:nvSpPr>
          <p:cNvPr id="4" name="Text 2"/>
          <p:cNvSpPr/>
          <p:nvPr/>
        </p:nvSpPr>
        <p:spPr>
          <a:xfrm>
            <a:off x="812800" y="3926880"/>
            <a:ext cx="5116042" cy="1295400"/>
          </a:xfrm>
          <a:prstGeom prst="rect">
            <a:avLst/>
          </a:prstGeom>
          <a:noFill/>
          <a:ln/>
        </p:spPr>
        <p:txBody>
          <a:bodyPr wrap="square" lIns="0" tIns="0" rIns="0" bIns="0" rtlCol="0" anchor="t">
            <a:normAutofit/>
          </a:bodyPr>
          <a:lstStyle/>
          <a:p>
            <a:pPr algn="l" indent="0" marL="0">
              <a:lnSpc>
                <a:spcPts val="10000"/>
              </a:lnSpc>
              <a:buNone/>
            </a:pPr>
            <a:r>
              <a:rPr lang="en-US" sz="10000" b="1" dirty="0">
                <a:solidFill>
                  <a:srgbClr val="E8A33D"/>
                </a:solidFill>
                <a:latin typeface="DM Sans" pitchFamily="34" charset="0"/>
                <a:ea typeface="DM Sans" pitchFamily="34" charset="-122"/>
                <a:cs typeface="DM Sans" pitchFamily="34" charset="-120"/>
              </a:rPr>
              <a:t>2,000+</a:t>
            </a:r>
            <a:endParaRPr lang="en-US" sz="10000" dirty="0"/>
          </a:p>
        </p:txBody>
      </p:sp>
      <p:sp>
        <p:nvSpPr>
          <p:cNvPr id="5" name="Text 3"/>
          <p:cNvSpPr/>
          <p:nvPr/>
        </p:nvSpPr>
        <p:spPr>
          <a:xfrm>
            <a:off x="812800" y="5247680"/>
            <a:ext cx="4185920" cy="61972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BFC8DA"/>
                </a:solidFill>
                <a:latin typeface="DM Sans" pitchFamily="34" charset="0"/>
                <a:ea typeface="DM Sans" pitchFamily="34" charset="-122"/>
                <a:cs typeface="DM Sans" pitchFamily="34" charset="-120"/>
              </a:rPr>
              <a:t>hours of regression testing per release cycle</a:t>
            </a:r>
            <a:endParaRPr lang="en-US" sz="1800" dirty="0"/>
          </a:p>
        </p:txBody>
      </p:sp>
      <p:sp>
        <p:nvSpPr>
          <p:cNvPr id="6" name="Text 4"/>
          <p:cNvSpPr/>
          <p:nvPr/>
        </p:nvSpPr>
        <p:spPr>
          <a:xfrm>
            <a:off x="5928842" y="4198640"/>
            <a:ext cx="5573776" cy="1397000"/>
          </a:xfrm>
          <a:prstGeom prst="rect">
            <a:avLst/>
          </a:prstGeom>
          <a:noFill/>
          <a:ln/>
        </p:spPr>
        <p:txBody>
          <a:bodyPr wrap="square" lIns="0" tIns="0" rIns="0" bIns="0" rtlCol="0" anchor="t">
            <a:normAutofit/>
          </a:bodyPr>
          <a:lstStyle/>
          <a:p>
            <a:pPr algn="l" marL="210566" indent="-210566">
              <a:lnSpc>
                <a:spcPts val="2700"/>
              </a:lnSpc>
              <a:buSzPct val="100000"/>
              <a:buChar char="•"/>
            </a:pPr>
            <a:r>
              <a:rPr lang="en-US" sz="1800" dirty="0">
                <a:solidFill>
                  <a:srgbClr val="F7F5EF"/>
                </a:solidFill>
                <a:latin typeface="DM Sans" pitchFamily="34" charset="0"/>
                <a:ea typeface="DM Sans" pitchFamily="34" charset="-122"/>
                <a:cs typeface="DM Sans" pitchFamily="34" charset="-120"/>
              </a:rPr>
              <a:t>The whole QA process was manual</a:t>
            </a:r>
            <a:endParaRPr lang="en-US" sz="1800" dirty="0"/>
          </a:p>
          <a:p>
            <a:pPr algn="l" marL="210566" indent="-210566">
              <a:lnSpc>
                <a:spcPts val="2700"/>
              </a:lnSpc>
              <a:buSzPct val="100000"/>
              <a:buChar char="•"/>
            </a:pPr>
            <a:r>
              <a:rPr lang="en-US" sz="1800" dirty="0">
                <a:solidFill>
                  <a:srgbClr val="F7F5EF"/>
                </a:solidFill>
                <a:latin typeface="DM Sans" pitchFamily="34" charset="0"/>
                <a:ea typeface="DM Sans" pitchFamily="34" charset="-122"/>
                <a:cs typeface="DM Sans" pitchFamily="34" charset="-120"/>
              </a:rPr>
              <a:t>Developers could not ship updates to trading applications quickly</a:t>
            </a:r>
            <a:endParaRPr lang="en-US" sz="1800" dirty="0"/>
          </a:p>
          <a:p>
            <a:pPr algn="l" marL="210566" indent="-210566">
              <a:lnSpc>
                <a:spcPts val="2700"/>
              </a:lnSpc>
              <a:buSzPct val="100000"/>
              <a:buChar char="•"/>
            </a:pPr>
            <a:r>
              <a:rPr lang="en-US" sz="1800" dirty="0">
                <a:solidFill>
                  <a:srgbClr val="F7F5EF"/>
                </a:solidFill>
                <a:latin typeface="DM Sans" pitchFamily="34" charset="0"/>
                <a:ea typeface="DM Sans" pitchFamily="34" charset="-122"/>
                <a:cs typeface="DM Sans" pitchFamily="34" charset="-120"/>
              </a:rPr>
              <a:t>Speed matters in fast-moving financial markets</a:t>
            </a:r>
            <a:endParaRPr lang="en-US" sz="1800" dirty="0"/>
          </a:p>
        </p:txBody>
      </p:sp>
      <p:sp>
        <p:nvSpPr>
          <p:cNvPr id="7" name="Text 5"/>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8DA"/>
                </a:solidFill>
                <a:latin typeface="DM Sans" pitchFamily="34" charset="0"/>
                <a:ea typeface="DM Sans" pitchFamily="34" charset="-122"/>
                <a:cs typeface="DM Sans" pitchFamily="34" charset="-120"/>
              </a:rPr>
              <a:t>Source: Total Shift Left (2026)</a:t>
            </a:r>
            <a:endParaRPr lang="en-US" sz="1200" dirty="0"/>
          </a:p>
        </p:txBody>
      </p:sp>
      <p:sp>
        <p:nvSpPr>
          <p:cNvPr id="8" name="Text 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FC8DA"/>
                </a:solidFill>
                <a:latin typeface="DM Sans" pitchFamily="34" charset="0"/>
                <a:ea typeface="DM Sans" pitchFamily="34" charset="-122"/>
                <a:cs typeface="DM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A35F00"/>
                </a:solidFill>
                <a:latin typeface="DM Sans" pitchFamily="34" charset="0"/>
                <a:ea typeface="DM Sans" pitchFamily="34" charset="-122"/>
                <a:cs typeface="DM Sans" pitchFamily="34" charset="-120"/>
              </a:rPr>
              <a:t>THE SOLUTION</a:t>
            </a:r>
            <a:endParaRPr lang="en-US" sz="1400" dirty="0"/>
          </a:p>
        </p:txBody>
      </p:sp>
      <p:sp>
        <p:nvSpPr>
          <p:cNvPr id="3" name="Text 1"/>
          <p:cNvSpPr/>
          <p:nvPr>
            <p:ph type="title"/>
          </p:nvPr>
        </p:nvSpPr>
        <p:spPr>
          <a:xfrm>
            <a:off x="812800" y="118869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DM Sans" pitchFamily="34" charset="0"/>
                <a:ea typeface="DM Sans" pitchFamily="34" charset="-122"/>
                <a:cs typeface="DM Sans" pitchFamily="34" charset="-120"/>
              </a:rPr>
              <a:t>Automated tests inside the CI/CD pipeline</a:t>
            </a:r>
            <a:endParaRPr lang="en-US" sz="3600" dirty="0"/>
          </a:p>
        </p:txBody>
      </p:sp>
      <p:sp>
        <p:nvSpPr>
          <p:cNvPr id="4" name="Shape 2"/>
          <p:cNvSpPr/>
          <p:nvPr/>
        </p:nvSpPr>
        <p:spPr>
          <a:xfrm>
            <a:off x="815975" y="4117975"/>
            <a:ext cx="3380284" cy="1720850"/>
          </a:xfrm>
          <a:prstGeom prst="roundRect">
            <a:avLst>
              <a:gd name="adj" fmla="val 5720"/>
            </a:avLst>
          </a:prstGeom>
          <a:solidFill>
            <a:srgbClr val="FFFDF8"/>
          </a:solidFill>
          <a:ln w="6350">
            <a:solidFill>
              <a:srgbClr val="DDD8CB"/>
            </a:solidFill>
            <a:prstDash val="solid"/>
          </a:ln>
        </p:spPr>
      </p:sp>
      <p:sp>
        <p:nvSpPr>
          <p:cNvPr id="5" name="Text 3"/>
          <p:cNvSpPr/>
          <p:nvPr/>
        </p:nvSpPr>
        <p:spPr>
          <a:xfrm>
            <a:off x="1073150" y="4375150"/>
            <a:ext cx="295191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DM Sans" pitchFamily="34" charset="0"/>
                <a:ea typeface="DM Sans" pitchFamily="34" charset="-122"/>
                <a:cs typeface="DM Sans" pitchFamily="34" charset="-120"/>
              </a:rPr>
              <a:t>A test framework</a:t>
            </a:r>
            <a:endParaRPr lang="en-US" sz="2000" dirty="0"/>
          </a:p>
        </p:txBody>
      </p:sp>
      <p:sp>
        <p:nvSpPr>
          <p:cNvPr id="6" name="Text 4"/>
          <p:cNvSpPr/>
          <p:nvPr/>
        </p:nvSpPr>
        <p:spPr>
          <a:xfrm>
            <a:off x="1073150" y="4781550"/>
            <a:ext cx="295191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DM Sans" pitchFamily="34" charset="0"/>
                <a:ea typeface="DM Sans" pitchFamily="34" charset="-122"/>
                <a:cs typeface="DM Sans" pitchFamily="34" charset="-120"/>
              </a:rPr>
              <a:t>Built with Selenium and C# by a consulting firm</a:t>
            </a:r>
            <a:endParaRPr lang="en-US" sz="1500" dirty="0"/>
          </a:p>
        </p:txBody>
      </p:sp>
      <p:sp>
        <p:nvSpPr>
          <p:cNvPr id="7" name="Shape 5"/>
          <p:cNvSpPr/>
          <p:nvPr/>
        </p:nvSpPr>
        <p:spPr>
          <a:xfrm>
            <a:off x="4405809" y="4117975"/>
            <a:ext cx="3380333" cy="1720850"/>
          </a:xfrm>
          <a:prstGeom prst="roundRect">
            <a:avLst>
              <a:gd name="adj" fmla="val 5720"/>
            </a:avLst>
          </a:prstGeom>
          <a:solidFill>
            <a:srgbClr val="FFFDF8"/>
          </a:solidFill>
          <a:ln w="6350">
            <a:solidFill>
              <a:srgbClr val="DDD8CB"/>
            </a:solidFill>
            <a:prstDash val="solid"/>
          </a:ln>
        </p:spPr>
      </p:sp>
      <p:sp>
        <p:nvSpPr>
          <p:cNvPr id="8" name="Text 6"/>
          <p:cNvSpPr/>
          <p:nvPr/>
        </p:nvSpPr>
        <p:spPr>
          <a:xfrm>
            <a:off x="4662984" y="4375150"/>
            <a:ext cx="295196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DM Sans" pitchFamily="34" charset="0"/>
                <a:ea typeface="DM Sans" pitchFamily="34" charset="-122"/>
                <a:cs typeface="DM Sans" pitchFamily="34" charset="-120"/>
              </a:rPr>
              <a:t>Run on every build</a:t>
            </a:r>
            <a:endParaRPr lang="en-US" sz="2000" dirty="0"/>
          </a:p>
        </p:txBody>
      </p:sp>
      <p:sp>
        <p:nvSpPr>
          <p:cNvPr id="9" name="Text 7"/>
          <p:cNvSpPr/>
          <p:nvPr/>
        </p:nvSpPr>
        <p:spPr>
          <a:xfrm>
            <a:off x="4662984" y="4781550"/>
            <a:ext cx="2951963"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DM Sans" pitchFamily="34" charset="0"/>
                <a:ea typeface="DM Sans" pitchFamily="34" charset="-122"/>
                <a:cs typeface="DM Sans" pitchFamily="34" charset="-120"/>
              </a:rPr>
              <a:t>Automated regression suites replace repeated manual checking</a:t>
            </a:r>
            <a:endParaRPr lang="en-US" sz="1500" dirty="0"/>
          </a:p>
        </p:txBody>
      </p:sp>
      <p:sp>
        <p:nvSpPr>
          <p:cNvPr id="10" name="Shape 8"/>
          <p:cNvSpPr/>
          <p:nvPr/>
        </p:nvSpPr>
        <p:spPr>
          <a:xfrm>
            <a:off x="7995692" y="4117975"/>
            <a:ext cx="3380333" cy="1720850"/>
          </a:xfrm>
          <a:prstGeom prst="roundRect">
            <a:avLst>
              <a:gd name="adj" fmla="val 5720"/>
            </a:avLst>
          </a:prstGeom>
          <a:solidFill>
            <a:srgbClr val="FFFDF8"/>
          </a:solidFill>
          <a:ln w="6350">
            <a:solidFill>
              <a:srgbClr val="DDD8CB"/>
            </a:solidFill>
            <a:prstDash val="solid"/>
          </a:ln>
        </p:spPr>
      </p:sp>
      <p:sp>
        <p:nvSpPr>
          <p:cNvPr id="11" name="Text 9"/>
          <p:cNvSpPr/>
          <p:nvPr/>
        </p:nvSpPr>
        <p:spPr>
          <a:xfrm>
            <a:off x="8252867" y="4375150"/>
            <a:ext cx="295196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DM Sans" pitchFamily="34" charset="0"/>
                <a:ea typeface="DM Sans" pitchFamily="34" charset="-122"/>
                <a:cs typeface="DM Sans" pitchFamily="34" charset="-120"/>
              </a:rPr>
              <a:t>Quality gates</a:t>
            </a:r>
            <a:endParaRPr lang="en-US" sz="2000" dirty="0"/>
          </a:p>
        </p:txBody>
      </p:sp>
      <p:sp>
        <p:nvSpPr>
          <p:cNvPr id="12" name="Text 10"/>
          <p:cNvSpPr/>
          <p:nvPr/>
        </p:nvSpPr>
        <p:spPr>
          <a:xfrm>
            <a:off x="8252867" y="4781550"/>
            <a:ext cx="2951963"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DM Sans" pitchFamily="34" charset="0"/>
                <a:ea typeface="DM Sans" pitchFamily="34" charset="-122"/>
                <a:cs typeface="DM Sans" pitchFamily="34" charset="-120"/>
              </a:rPr>
              <a:t>Deployments are blocked automatically when tests fail</a:t>
            </a:r>
            <a:endParaRPr lang="en-US" sz="1500" dirty="0"/>
          </a:p>
        </p:txBody>
      </p:sp>
      <p:sp>
        <p:nvSpPr>
          <p:cNvPr id="13" name="Text 11"/>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DM Sans" pitchFamily="34" charset="0"/>
                <a:ea typeface="DM Sans" pitchFamily="34" charset="-122"/>
                <a:cs typeface="DM Sans" pitchFamily="34" charset="-120"/>
              </a:rPr>
              <a:t>Source: Total Shift Left (2026)</a:t>
            </a:r>
            <a:endParaRPr lang="en-US" sz="1200" dirty="0"/>
          </a:p>
        </p:txBody>
      </p:sp>
      <p:sp>
        <p:nvSpPr>
          <p:cNvPr id="14" name="Text 1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568"/>
                </a:solidFill>
                <a:latin typeface="DM Sans" pitchFamily="34" charset="0"/>
                <a:ea typeface="DM Sans" pitchFamily="34" charset="-122"/>
                <a:cs typeface="DM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A35F00"/>
                </a:solidFill>
                <a:latin typeface="DM Sans" pitchFamily="34" charset="0"/>
                <a:ea typeface="DM Sans" pitchFamily="34" charset="-122"/>
                <a:cs typeface="DM Sans" pitchFamily="34" charset="-120"/>
              </a:rPr>
              <a:t>RESULTS</a:t>
            </a:r>
            <a:endParaRPr lang="en-US" sz="1400" dirty="0"/>
          </a:p>
        </p:txBody>
      </p:sp>
      <p:sp>
        <p:nvSpPr>
          <p:cNvPr id="3" name="Text 1"/>
          <p:cNvSpPr/>
          <p:nvPr>
            <p:ph type="title"/>
          </p:nvPr>
        </p:nvSpPr>
        <p:spPr>
          <a:xfrm>
            <a:off x="812800" y="118869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DM Sans" pitchFamily="34" charset="0"/>
                <a:ea typeface="DM Sans" pitchFamily="34" charset="-122"/>
                <a:cs typeface="DM Sans" pitchFamily="34" charset="-120"/>
              </a:rPr>
              <a:t>Less time, lower cost, fewer defects</a:t>
            </a:r>
            <a:endParaRPr lang="en-US" sz="3600" dirty="0"/>
          </a:p>
        </p:txBody>
      </p:sp>
      <p:sp>
        <p:nvSpPr>
          <p:cNvPr id="4" name="Shape 2"/>
          <p:cNvSpPr/>
          <p:nvPr/>
        </p:nvSpPr>
        <p:spPr>
          <a:xfrm>
            <a:off x="815975" y="3363714"/>
            <a:ext cx="3380284" cy="2475111"/>
          </a:xfrm>
          <a:prstGeom prst="roundRect">
            <a:avLst>
              <a:gd name="adj" fmla="val 3977"/>
            </a:avLst>
          </a:prstGeom>
          <a:solidFill>
            <a:srgbClr val="FFFDF8"/>
          </a:solidFill>
          <a:ln w="6350">
            <a:solidFill>
              <a:srgbClr val="DDD8CB"/>
            </a:solidFill>
            <a:prstDash val="solid"/>
          </a:ln>
        </p:spPr>
      </p:sp>
      <p:sp>
        <p:nvSpPr>
          <p:cNvPr id="5" name="Text 3"/>
          <p:cNvSpPr/>
          <p:nvPr/>
        </p:nvSpPr>
        <p:spPr>
          <a:xfrm>
            <a:off x="1073150" y="3620889"/>
            <a:ext cx="2951912"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A35F00"/>
                </a:solidFill>
                <a:latin typeface="DM Sans" pitchFamily="34" charset="0"/>
                <a:ea typeface="DM Sans" pitchFamily="34" charset="-122"/>
                <a:cs typeface="DM Sans" pitchFamily="34" charset="-120"/>
              </a:rPr>
              <a:t>80%</a:t>
            </a:r>
            <a:endParaRPr lang="en-US" sz="6000" dirty="0"/>
          </a:p>
        </p:txBody>
      </p:sp>
      <p:sp>
        <p:nvSpPr>
          <p:cNvPr id="6" name="Text 4"/>
          <p:cNvSpPr/>
          <p:nvPr/>
        </p:nvSpPr>
        <p:spPr>
          <a:xfrm>
            <a:off x="1073150" y="4459089"/>
            <a:ext cx="2951912"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DM Sans" pitchFamily="34" charset="0"/>
                <a:ea typeface="DM Sans" pitchFamily="34" charset="-122"/>
                <a:cs typeface="DM Sans" pitchFamily="34" charset="-120"/>
              </a:rPr>
              <a:t>Less testing time</a:t>
            </a:r>
            <a:endParaRPr lang="en-US" sz="1800" dirty="0"/>
          </a:p>
        </p:txBody>
      </p:sp>
      <p:sp>
        <p:nvSpPr>
          <p:cNvPr id="7" name="Text 5"/>
          <p:cNvSpPr/>
          <p:nvPr/>
        </p:nvSpPr>
        <p:spPr>
          <a:xfrm>
            <a:off x="1073150" y="4809579"/>
            <a:ext cx="295191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DM Sans" pitchFamily="34" charset="0"/>
                <a:ea typeface="DM Sans" pitchFamily="34" charset="-122"/>
                <a:cs typeface="DM Sans" pitchFamily="34" charset="-120"/>
              </a:rPr>
              <a:t>From 2,000+ hours to about 400 hours per cycle</a:t>
            </a:r>
            <a:endParaRPr lang="en-US" sz="1400" dirty="0"/>
          </a:p>
        </p:txBody>
      </p:sp>
      <p:sp>
        <p:nvSpPr>
          <p:cNvPr id="8" name="Shape 6"/>
          <p:cNvSpPr/>
          <p:nvPr/>
        </p:nvSpPr>
        <p:spPr>
          <a:xfrm>
            <a:off x="4405809" y="3363714"/>
            <a:ext cx="3380333" cy="2475111"/>
          </a:xfrm>
          <a:prstGeom prst="roundRect">
            <a:avLst>
              <a:gd name="adj" fmla="val 3977"/>
            </a:avLst>
          </a:prstGeom>
          <a:solidFill>
            <a:srgbClr val="FFFDF8"/>
          </a:solidFill>
          <a:ln w="6350">
            <a:solidFill>
              <a:srgbClr val="DDD8CB"/>
            </a:solidFill>
            <a:prstDash val="solid"/>
          </a:ln>
        </p:spPr>
      </p:sp>
      <p:sp>
        <p:nvSpPr>
          <p:cNvPr id="9" name="Text 7"/>
          <p:cNvSpPr/>
          <p:nvPr/>
        </p:nvSpPr>
        <p:spPr>
          <a:xfrm>
            <a:off x="4662984" y="3620889"/>
            <a:ext cx="3119983"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A35F00"/>
                </a:solidFill>
                <a:latin typeface="DM Sans" pitchFamily="34" charset="0"/>
                <a:ea typeface="DM Sans" pitchFamily="34" charset="-122"/>
                <a:cs typeface="DM Sans" pitchFamily="34" charset="-120"/>
              </a:rPr>
              <a:t>$700K+</a:t>
            </a:r>
            <a:endParaRPr lang="en-US" sz="6000" dirty="0"/>
          </a:p>
        </p:txBody>
      </p:sp>
      <p:sp>
        <p:nvSpPr>
          <p:cNvPr id="10" name="Text 8"/>
          <p:cNvSpPr/>
          <p:nvPr/>
        </p:nvSpPr>
        <p:spPr>
          <a:xfrm>
            <a:off x="4662984" y="4459089"/>
            <a:ext cx="2951963"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DM Sans" pitchFamily="34" charset="0"/>
                <a:ea typeface="DM Sans" pitchFamily="34" charset="-122"/>
                <a:cs typeface="DM Sans" pitchFamily="34" charset="-120"/>
              </a:rPr>
              <a:t>Saved every year</a:t>
            </a:r>
            <a:endParaRPr lang="en-US" sz="1800" dirty="0"/>
          </a:p>
        </p:txBody>
      </p:sp>
      <p:sp>
        <p:nvSpPr>
          <p:cNvPr id="11" name="Text 9"/>
          <p:cNvSpPr/>
          <p:nvPr/>
        </p:nvSpPr>
        <p:spPr>
          <a:xfrm>
            <a:off x="4662984" y="4809579"/>
            <a:ext cx="2951963"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DM Sans" pitchFamily="34" charset="0"/>
                <a:ea typeface="DM Sans" pitchFamily="34" charset="-122"/>
                <a:cs typeface="DM Sans" pitchFamily="34" charset="-120"/>
              </a:rPr>
              <a:t>Annual cost savings reported by the source</a:t>
            </a:r>
            <a:endParaRPr lang="en-US" sz="1400" dirty="0"/>
          </a:p>
        </p:txBody>
      </p:sp>
      <p:sp>
        <p:nvSpPr>
          <p:cNvPr id="12" name="Shape 10"/>
          <p:cNvSpPr/>
          <p:nvPr/>
        </p:nvSpPr>
        <p:spPr>
          <a:xfrm>
            <a:off x="7995692" y="3363714"/>
            <a:ext cx="3380333" cy="2475111"/>
          </a:xfrm>
          <a:prstGeom prst="roundRect">
            <a:avLst>
              <a:gd name="adj" fmla="val 3977"/>
            </a:avLst>
          </a:prstGeom>
          <a:solidFill>
            <a:srgbClr val="FFFDF8"/>
          </a:solidFill>
          <a:ln w="6350">
            <a:solidFill>
              <a:srgbClr val="DDD8CB"/>
            </a:solidFill>
            <a:prstDash val="solid"/>
          </a:ln>
        </p:spPr>
      </p:sp>
      <p:sp>
        <p:nvSpPr>
          <p:cNvPr id="13" name="Text 11"/>
          <p:cNvSpPr/>
          <p:nvPr/>
        </p:nvSpPr>
        <p:spPr>
          <a:xfrm>
            <a:off x="8252867" y="3620889"/>
            <a:ext cx="2951963"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A35F00"/>
                </a:solidFill>
                <a:latin typeface="DM Sans" pitchFamily="34" charset="0"/>
                <a:ea typeface="DM Sans" pitchFamily="34" charset="-122"/>
                <a:cs typeface="DM Sans" pitchFamily="34" charset="-120"/>
              </a:rPr>
              <a:t>Zero</a:t>
            </a:r>
            <a:endParaRPr lang="en-US" sz="6000" dirty="0"/>
          </a:p>
        </p:txBody>
      </p:sp>
      <p:sp>
        <p:nvSpPr>
          <p:cNvPr id="14" name="Text 12"/>
          <p:cNvSpPr/>
          <p:nvPr/>
        </p:nvSpPr>
        <p:spPr>
          <a:xfrm>
            <a:off x="8252867" y="4459089"/>
            <a:ext cx="2951963" cy="57398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DM Sans" pitchFamily="34" charset="0"/>
                <a:ea typeface="DM Sans" pitchFamily="34" charset="-122"/>
                <a:cs typeface="DM Sans" pitchFamily="34" charset="-120"/>
              </a:rPr>
              <a:t>Critical production defects</a:t>
            </a:r>
            <a:endParaRPr lang="en-US" sz="1800" dirty="0"/>
          </a:p>
        </p:txBody>
      </p:sp>
      <p:sp>
        <p:nvSpPr>
          <p:cNvPr id="15" name="Text 13"/>
          <p:cNvSpPr/>
          <p:nvPr/>
        </p:nvSpPr>
        <p:spPr>
          <a:xfrm>
            <a:off x="8252867" y="5083870"/>
            <a:ext cx="2951963"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DM Sans" pitchFamily="34" charset="0"/>
                <a:ea typeface="DM Sans" pitchFamily="34" charset="-122"/>
                <a:cs typeface="DM Sans" pitchFamily="34" charset="-120"/>
              </a:rPr>
              <a:t>After implementation, compared with regular occurrences before</a:t>
            </a:r>
            <a:endParaRPr lang="en-US" sz="1400" dirty="0"/>
          </a:p>
        </p:txBody>
      </p:sp>
      <p:sp>
        <p:nvSpPr>
          <p:cNvPr id="16" name="Text 14"/>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DM Sans" pitchFamily="34" charset="0"/>
                <a:ea typeface="DM Sans" pitchFamily="34" charset="-122"/>
                <a:cs typeface="DM Sans" pitchFamily="34" charset="-120"/>
              </a:rPr>
              <a:t>Source: Total Shift Left (2026)</a:t>
            </a:r>
            <a:endParaRPr lang="en-US" sz="1200" dirty="0"/>
          </a:p>
        </p:txBody>
      </p:sp>
      <p:sp>
        <p:nvSpPr>
          <p:cNvPr id="17" name="Text 1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568"/>
                </a:solidFill>
                <a:latin typeface="DM Sans" pitchFamily="34" charset="0"/>
                <a:ea typeface="DM Sans" pitchFamily="34" charset="-122"/>
                <a:cs typeface="DM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E8A33D"/>
                </a:solidFill>
                <a:latin typeface="DM Sans" pitchFamily="34" charset="0"/>
                <a:ea typeface="DM Sans" pitchFamily="34" charset="-122"/>
                <a:cs typeface="DM Sans" pitchFamily="34" charset="-120"/>
              </a:rPr>
              <a:t>CRITICAL VIEW</a:t>
            </a:r>
            <a:endParaRPr lang="en-US" sz="1400" dirty="0"/>
          </a:p>
        </p:txBody>
      </p:sp>
      <p:sp>
        <p:nvSpPr>
          <p:cNvPr id="3" name="Text 1"/>
          <p:cNvSpPr/>
          <p:nvPr>
            <p:ph type="title"/>
          </p:nvPr>
        </p:nvSpPr>
        <p:spPr>
          <a:xfrm>
            <a:off x="812800" y="118869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7F5EF"/>
                </a:solidFill>
                <a:latin typeface="DM Sans" pitchFamily="34" charset="0"/>
                <a:ea typeface="DM Sans" pitchFamily="34" charset="-122"/>
                <a:cs typeface="DM Sans" pitchFamily="34" charset="-120"/>
              </a:rPr>
              <a:t>Limitations of the source</a:t>
            </a:r>
            <a:endParaRPr lang="en-US" sz="3600" dirty="0"/>
          </a:p>
        </p:txBody>
      </p:sp>
      <p:sp>
        <p:nvSpPr>
          <p:cNvPr id="4" name="Shape 2"/>
          <p:cNvSpPr/>
          <p:nvPr/>
        </p:nvSpPr>
        <p:spPr>
          <a:xfrm>
            <a:off x="812800" y="3891310"/>
            <a:ext cx="3386634" cy="1950690"/>
          </a:xfrm>
          <a:prstGeom prst="roundRect">
            <a:avLst>
              <a:gd name="adj" fmla="val 5208"/>
            </a:avLst>
          </a:prstGeom>
          <a:solidFill>
            <a:srgbClr val="22335A"/>
          </a:solidFill>
          <a:ln/>
        </p:spPr>
      </p:sp>
      <p:sp>
        <p:nvSpPr>
          <p:cNvPr id="5" name="Text 3"/>
          <p:cNvSpPr/>
          <p:nvPr/>
        </p:nvSpPr>
        <p:spPr>
          <a:xfrm>
            <a:off x="1066800" y="4145310"/>
            <a:ext cx="2964993"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E8A33D"/>
                </a:solidFill>
                <a:latin typeface="DM Sans" pitchFamily="34" charset="0"/>
                <a:ea typeface="DM Sans" pitchFamily="34" charset="-122"/>
                <a:cs typeface="DM Sans" pitchFamily="34" charset="-120"/>
              </a:rPr>
              <a:t>Commercial interest</a:t>
            </a:r>
            <a:endParaRPr lang="en-US" sz="1800" dirty="0"/>
          </a:p>
        </p:txBody>
      </p:sp>
      <p:sp>
        <p:nvSpPr>
          <p:cNvPr id="6" name="Text 4"/>
          <p:cNvSpPr/>
          <p:nvPr/>
        </p:nvSpPr>
        <p:spPr>
          <a:xfrm>
            <a:off x="1066800" y="4521200"/>
            <a:ext cx="2964993"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7F5EF"/>
                </a:solidFill>
                <a:latin typeface="DM Sans" pitchFamily="34" charset="0"/>
                <a:ea typeface="DM Sans" pitchFamily="34" charset="-122"/>
                <a:cs typeface="DM Sans" pitchFamily="34" charset="-120"/>
              </a:rPr>
              <a:t>The guide is published by a testing consultancy, and the case is its own client project</a:t>
            </a:r>
            <a:endParaRPr lang="en-US" sz="1500" dirty="0"/>
          </a:p>
        </p:txBody>
      </p:sp>
      <p:sp>
        <p:nvSpPr>
          <p:cNvPr id="7" name="Shape 5"/>
          <p:cNvSpPr/>
          <p:nvPr/>
        </p:nvSpPr>
        <p:spPr>
          <a:xfrm>
            <a:off x="4402634" y="3891310"/>
            <a:ext cx="3386683" cy="1950690"/>
          </a:xfrm>
          <a:prstGeom prst="roundRect">
            <a:avLst>
              <a:gd name="adj" fmla="val 5208"/>
            </a:avLst>
          </a:prstGeom>
          <a:solidFill>
            <a:srgbClr val="22335A"/>
          </a:solidFill>
          <a:ln/>
        </p:spPr>
      </p:sp>
      <p:sp>
        <p:nvSpPr>
          <p:cNvPr id="8" name="Text 6"/>
          <p:cNvSpPr/>
          <p:nvPr/>
        </p:nvSpPr>
        <p:spPr>
          <a:xfrm>
            <a:off x="4656634" y="4145310"/>
            <a:ext cx="2965044"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E8A33D"/>
                </a:solidFill>
                <a:latin typeface="DM Sans" pitchFamily="34" charset="0"/>
                <a:ea typeface="DM Sans" pitchFamily="34" charset="-122"/>
                <a:cs typeface="DM Sans" pitchFamily="34" charset="-120"/>
              </a:rPr>
              <a:t>Missing details</a:t>
            </a:r>
            <a:endParaRPr lang="en-US" sz="1800" dirty="0"/>
          </a:p>
        </p:txBody>
      </p:sp>
      <p:sp>
        <p:nvSpPr>
          <p:cNvPr id="9" name="Text 7"/>
          <p:cNvSpPr/>
          <p:nvPr/>
        </p:nvSpPr>
        <p:spPr>
          <a:xfrm>
            <a:off x="4656634" y="4521200"/>
            <a:ext cx="2965044"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7F5EF"/>
                </a:solidFill>
                <a:latin typeface="DM Sans" pitchFamily="34" charset="0"/>
                <a:ea typeface="DM Sans" pitchFamily="34" charset="-122"/>
                <a:cs typeface="DM Sans" pitchFamily="34" charset="-120"/>
              </a:rPr>
              <a:t>No explanation of how the $700,000 was calculated, how long the rollout took, or what it cost</a:t>
            </a:r>
            <a:endParaRPr lang="en-US" sz="1500" dirty="0"/>
          </a:p>
        </p:txBody>
      </p:sp>
      <p:sp>
        <p:nvSpPr>
          <p:cNvPr id="10" name="Shape 8"/>
          <p:cNvSpPr/>
          <p:nvPr/>
        </p:nvSpPr>
        <p:spPr>
          <a:xfrm>
            <a:off x="7992517" y="3891310"/>
            <a:ext cx="3386683" cy="1950690"/>
          </a:xfrm>
          <a:prstGeom prst="roundRect">
            <a:avLst>
              <a:gd name="adj" fmla="val 5208"/>
            </a:avLst>
          </a:prstGeom>
          <a:solidFill>
            <a:srgbClr val="22335A"/>
          </a:solidFill>
          <a:ln/>
        </p:spPr>
      </p:sp>
      <p:sp>
        <p:nvSpPr>
          <p:cNvPr id="11" name="Text 9"/>
          <p:cNvSpPr/>
          <p:nvPr/>
        </p:nvSpPr>
        <p:spPr>
          <a:xfrm>
            <a:off x="8246517" y="4145310"/>
            <a:ext cx="2965044"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E8A33D"/>
                </a:solidFill>
                <a:latin typeface="DM Sans" pitchFamily="34" charset="0"/>
                <a:ea typeface="DM Sans" pitchFamily="34" charset="-122"/>
                <a:cs typeface="DM Sans" pitchFamily="34" charset="-120"/>
              </a:rPr>
              <a:t>Unnamed bank</a:t>
            </a:r>
            <a:endParaRPr lang="en-US" sz="1800" dirty="0"/>
          </a:p>
        </p:txBody>
      </p:sp>
      <p:sp>
        <p:nvSpPr>
          <p:cNvPr id="12" name="Text 10"/>
          <p:cNvSpPr/>
          <p:nvPr/>
        </p:nvSpPr>
        <p:spPr>
          <a:xfrm>
            <a:off x="8246517" y="4521200"/>
            <a:ext cx="2965044"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7F5EF"/>
                </a:solidFill>
                <a:latin typeface="DM Sans" pitchFamily="34" charset="0"/>
                <a:ea typeface="DM Sans" pitchFamily="34" charset="-122"/>
                <a:cs typeface="DM Sans" pitchFamily="34" charset="-120"/>
              </a:rPr>
              <a:t>The results cannot be checked independently</a:t>
            </a:r>
            <a:endParaRPr lang="en-US" sz="1500" dirty="0"/>
          </a:p>
        </p:txBody>
      </p:sp>
      <p:sp>
        <p:nvSpPr>
          <p:cNvPr id="13" name="Text 11"/>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8DA"/>
                </a:solidFill>
                <a:latin typeface="DM Sans" pitchFamily="34" charset="0"/>
                <a:ea typeface="DM Sans" pitchFamily="34" charset="-122"/>
                <a:cs typeface="DM Sans" pitchFamily="34" charset="-120"/>
              </a:rPr>
              <a:t>Source: Total Shift Left (2026)</a:t>
            </a:r>
            <a:endParaRPr lang="en-US" sz="1200" dirty="0"/>
          </a:p>
        </p:txBody>
      </p:sp>
      <p:sp>
        <p:nvSpPr>
          <p:cNvPr id="14" name="Text 1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FC8DA"/>
                </a:solidFill>
                <a:latin typeface="DM Sans" pitchFamily="34" charset="0"/>
                <a:ea typeface="DM Sans" pitchFamily="34" charset="-122"/>
                <a:cs typeface="DM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8A33D"/>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14213D"/>
                </a:solidFill>
                <a:latin typeface="DM Sans" pitchFamily="34" charset="0"/>
                <a:ea typeface="DM Sans" pitchFamily="34" charset="-122"/>
                <a:cs typeface="DM Sans" pitchFamily="34" charset="-120"/>
              </a:rPr>
              <a:t>CONCLUSION</a:t>
            </a:r>
            <a:endParaRPr lang="en-US" sz="1400" dirty="0"/>
          </a:p>
        </p:txBody>
      </p:sp>
      <p:sp>
        <p:nvSpPr>
          <p:cNvPr id="3" name="Text 1"/>
          <p:cNvSpPr/>
          <p:nvPr>
            <p:ph type="title"/>
          </p:nvPr>
        </p:nvSpPr>
        <p:spPr>
          <a:xfrm>
            <a:off x="812800" y="1894929"/>
            <a:ext cx="9810750" cy="1869380"/>
          </a:xfrm>
          <a:prstGeom prst="rect">
            <a:avLst/>
          </a:prstGeom>
          <a:noFill/>
          <a:ln/>
        </p:spPr>
        <p:txBody>
          <a:bodyPr wrap="square" lIns="0" tIns="0" rIns="0" bIns="0" rtlCol="0" anchor="t">
            <a:normAutofit/>
          </a:bodyPr>
          <a:lstStyle/>
          <a:p>
            <a:pPr algn="l" indent="0" marL="0">
              <a:lnSpc>
                <a:spcPts val="4840"/>
              </a:lnSpc>
              <a:buNone/>
            </a:pPr>
            <a:r>
              <a:rPr lang="en-US" sz="4400" b="1" i="0" dirty="0">
                <a:solidFill>
                  <a:srgbClr val="14213D"/>
                </a:solidFill>
                <a:latin typeface="DM Sans" pitchFamily="34" charset="0"/>
                <a:ea typeface="DM Sans" pitchFamily="34" charset="-122"/>
                <a:cs typeface="DM Sans" pitchFamily="34" charset="-120"/>
              </a:rPr>
              <a:t>Test early, test automatically, and block bad code from moving forward.</a:t>
            </a:r>
            <a:endParaRPr lang="en-US" sz="4400" dirty="0"/>
          </a:p>
        </p:txBody>
      </p:sp>
      <p:sp>
        <p:nvSpPr>
          <p:cNvPr id="4" name="Text 2"/>
          <p:cNvSpPr/>
          <p:nvPr/>
        </p:nvSpPr>
        <p:spPr>
          <a:xfrm>
            <a:off x="812800" y="3942110"/>
            <a:ext cx="9156700" cy="66546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4213D"/>
                </a:solidFill>
                <a:latin typeface="DM Sans" pitchFamily="34" charset="0"/>
                <a:ea typeface="DM Sans" pitchFamily="34" charset="-122"/>
                <a:cs typeface="DM Sans" pitchFamily="34" charset="-120"/>
              </a:rPr>
              <a:t>At the bank, this cut regression effort by 80%, reduced cost and improved release confidence.</a:t>
            </a:r>
            <a:endParaRPr lang="en-US" sz="1800" dirty="0"/>
          </a:p>
        </p:txBody>
      </p:sp>
      <p:sp>
        <p:nvSpPr>
          <p:cNvPr id="5" name="Text 3"/>
          <p:cNvSpPr/>
          <p:nvPr/>
        </p:nvSpPr>
        <p:spPr>
          <a:xfrm>
            <a:off x="812800" y="5415359"/>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DM Sans" pitchFamily="34" charset="0"/>
                <a:ea typeface="DM Sans" pitchFamily="34" charset="-122"/>
                <a:cs typeface="DM Sans" pitchFamily="34" charset="-120"/>
              </a:rPr>
              <a:t>Source: Rishi Gaurav, “Shift-Left Testing Strategy 2026: Tools, CI/CD &amp; $700K Case Study,” Total Shift Left, April 13, 2026. totalshiftleft.com/blog/shift-left-testing-complete-guide</a:t>
            </a:r>
            <a:endParaRPr lang="en-US" sz="1200" dirty="0"/>
          </a:p>
        </p:txBody>
      </p:sp>
      <p:sp>
        <p:nvSpPr>
          <p:cNvPr id="6" name="Text 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4213D"/>
                </a:solidFill>
                <a:latin typeface="DM Sans" pitchFamily="34" charset="0"/>
                <a:ea typeface="DM Sans" pitchFamily="34" charset="-122"/>
                <a:cs typeface="DM Sans" pitchFamily="34" charset="-120"/>
              </a:rPr>
              <a:t>7</a:t>
            </a:r>
            <a:endParaRPr lang="en-US" sz="1200" dirty="0"/>
          </a:p>
        </p:txBody>
      </p:sp>
    </p:spTree>
  </p:cSld>
  <p:clrMapOvr>
    <a:masterClrMapping/>
  </p:clrMapOvr>
</p:sld>
</file>

<file path=ppt/theme/theme1.xml><?xml version="1.0" encoding="utf-8"?>
<a:theme xmlns:a="http://schemas.openxmlformats.org/drawingml/2006/main" name="Shift-Left Testing: European Investment Bank Case Study">
  <a:themeElements>
    <a:clrScheme name="Shift-Left Testing: European Investment Bank Case Study">
      <a:dk1>
        <a:srgbClr val="14213D"/>
      </a:dk1>
      <a:lt1>
        <a:srgbClr val="F7F5EF"/>
      </a:lt1>
      <a:dk2>
        <a:srgbClr val="2B364F"/>
      </a:dk2>
      <a:lt2>
        <a:srgbClr val="BEC0C3"/>
      </a:lt2>
      <a:accent1>
        <a:srgbClr val="E8A33D"/>
      </a:accent1>
      <a:accent2>
        <a:srgbClr val="A35F00"/>
      </a:accent2>
      <a:accent3>
        <a:srgbClr val="22335A"/>
      </a:accent3>
      <a:accent4>
        <a:srgbClr val="4A5568"/>
      </a:accent4>
      <a:accent5>
        <a:srgbClr val="BFC8DA"/>
      </a:accent5>
      <a:accent6>
        <a:srgbClr val="9AA0A6"/>
      </a:accent6>
      <a:hlink>
        <a:srgbClr val="0563C1"/>
      </a:hlink>
      <a:folHlink>
        <a:srgbClr val="954F72"/>
      </a:folHlink>
    </a:clrScheme>
    <a:fontScheme name="Shift-Left Testing: European Investment Bank Case Study">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Shift-Left Testing: European Investment Bank Case Study</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DM Sans
Copyright 2014 The DM Sans Project Authors (https://github.com/googlefonts/dm-fonts)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2026-10-28T09:46:41Z</dcterms:created>
  <dcterms:modified xsi:type="dcterms:W3CDTF">2026-10-28T09:46:41Z</dcterms:modified>
</cp:coreProperties>
</file>